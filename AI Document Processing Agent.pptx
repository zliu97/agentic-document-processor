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32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E87A-EBED-FDF8-9FE7-06E9CC6B0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E587F-7DB3-BC5E-9988-9E13DE5C7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1244-7E35-542B-1D07-23DBE37D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DC3A8-699C-EDDA-B5E5-E377FED7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26AA-322A-9262-14FF-4146FFC99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66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40CE9-96B7-EB0F-7443-A450464A2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F6D55-9552-5097-7852-D394D35A6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6946C-365E-1241-B5A3-615C88096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FF28F-00FB-795D-2653-9BAD8B57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CD793-8B80-AC6F-A081-BD70CBB6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028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0AC5-E060-3F93-C9D0-5A9C6D0A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884C4-24AF-BCFD-BCEA-B2DCE6657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0264F-388B-B582-B312-134F2462F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34E9E-C6BF-1248-4BC1-6F2BE8F4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CE14-A217-DC72-C297-670726EC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43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B5F6B-70D2-D65C-F449-D5765CC54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0213C-5535-B303-8619-8F6CB27A2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18A1D-E073-7E4E-AD25-C51F1586D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F0E3B-62D7-9393-05CC-ABBA7D3E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03880-AE89-CDDD-1CE9-792A32EC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8886E-558B-C08D-4964-82416B77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03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C42A-83F4-58E7-40E2-798E5003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A44DE-91FD-9036-A96A-CC62A4AB9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CAA35-7DF1-E374-60C9-31402A0DA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E029D-765F-26B0-1CCB-28F0B3E28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114C3-4FF7-A5CC-A398-9BE72B417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0CA17-32F6-7DA6-9257-5C4FB89B6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943EE8-5E96-0453-B24C-91F3DE4C4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BBA25-7D41-E369-B10D-202BE7E8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8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1DBE1-B2D2-7396-3CC7-865FCE96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FF17AE-9CB6-C3A3-C6B8-34876CAD6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1FFCF-1B02-A6A1-B727-5185A4DB4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96675-E60B-58A7-0B01-AB64A969A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411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1402E-00FA-4FC4-7ED1-946B978E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B9050-FCC0-AC48-812E-13C1B50E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FAE9A-762B-2CD5-9F0A-71EF9AB0A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991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2A92D-5A4E-D978-D6C7-5C0907CB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99504-38BF-8B62-FF53-7334746A6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3C850-09D6-BC90-3E16-9A0792BCD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76880-F730-4076-EED1-AE1FED5A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C86BD-8E5D-C9EE-DB38-3FD9DDCB5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35D7D-43ED-13C9-2D97-A0DBC4B2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1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57B2-99AA-E1AC-106C-0B6252113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45EBA-6812-41D1-1772-2343CA9CF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08708-3588-CD55-22A8-E6AA37A6D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3CEE6-849F-A703-BD68-E45020C8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652A8D-4B07-F4AC-DB99-ABE2E8801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D6A19-2064-8328-8BD7-D567804C2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71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3269-AF7A-A9EF-6128-9F3987EF5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8E503-864F-90A1-7C07-9722D97BE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ADB2D-BD64-9883-CD4D-5483CF8D9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F497E-B56B-2392-8694-77585B3B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20326-27B2-62C9-52F3-D93A2364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10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129EFC-9A3D-7EBE-745C-287B096A6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737B9-F8F4-93D3-2878-6E375612E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4E336-33EA-2EFB-DE49-E03FF55F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9F5CA-9BE0-8FBB-D3FA-25EF94E45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5CA80-7AE8-1AC8-9813-FC51D59C2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39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B2899F-9D3A-E73F-E9B4-968E64C76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E4796-E69F-1DA9-DB4E-148304930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BE628-0AC5-8008-BCEB-03F042E103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2523D1-9A5E-46BF-BB35-A5A5D47691AB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57DE4-297C-1596-3432-45BCF11DC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E2795-E3DA-CA65-33CB-BE7302A80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23807-4541-49DB-8D07-36E76BDE19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92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96DD-3757-1B2C-2753-BA3C57F1E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2262908"/>
            <a:ext cx="10270836" cy="1099272"/>
          </a:xfrm>
        </p:spPr>
        <p:txBody>
          <a:bodyPr/>
          <a:lstStyle/>
          <a:p>
            <a:r>
              <a:rPr lang="en-GB" dirty="0"/>
              <a:t>AI Document Processing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B45B0-6485-016C-3651-865C75CB7A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Presenter: Zinan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3653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1D15-C431-ECE0-7526-E00BF567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577BFF-44A7-2D62-A963-5E69027B42DA}"/>
              </a:ext>
            </a:extLst>
          </p:cNvPr>
          <p:cNvSpPr txBox="1"/>
          <p:nvPr/>
        </p:nvSpPr>
        <p:spPr>
          <a:xfrm>
            <a:off x="675884" y="680774"/>
            <a:ext cx="42064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Problem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3FA0B-5DED-CB69-747F-A9AB07D21BD7}"/>
              </a:ext>
            </a:extLst>
          </p:cNvPr>
          <p:cNvSpPr txBox="1"/>
          <p:nvPr/>
        </p:nvSpPr>
        <p:spPr>
          <a:xfrm>
            <a:off x="719348" y="1887205"/>
            <a:ext cx="79495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• Organisations receive mixed‑format documents (PDFs, images, audio).</a:t>
            </a:r>
          </a:p>
          <a:p>
            <a:endParaRPr lang="en-GB" sz="2400" dirty="0"/>
          </a:p>
          <a:p>
            <a:r>
              <a:rPr lang="en-GB" sz="2400" dirty="0"/>
              <a:t>• Manual extraction is slow, inconsistent.</a:t>
            </a:r>
          </a:p>
          <a:p>
            <a:endParaRPr lang="en-GB" sz="2400" dirty="0"/>
          </a:p>
          <a:p>
            <a:r>
              <a:rPr lang="en-GB" sz="2400" dirty="0"/>
              <a:t>• Need: A natural‑language‑driven agent that processes files end‑to‑end</a:t>
            </a:r>
          </a:p>
        </p:txBody>
      </p:sp>
    </p:spTree>
    <p:extLst>
      <p:ext uri="{BB962C8B-B14F-4D97-AF65-F5344CB8AC3E}">
        <p14:creationId xmlns:p14="http://schemas.microsoft.com/office/powerpoint/2010/main" val="2400721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5176-A3A4-FDE2-B4B8-960ED4E7A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B16C1E-AF48-64A0-0E95-C64CDF49003C}"/>
              </a:ext>
            </a:extLst>
          </p:cNvPr>
          <p:cNvSpPr txBox="1"/>
          <p:nvPr/>
        </p:nvSpPr>
        <p:spPr>
          <a:xfrm>
            <a:off x="675884" y="680774"/>
            <a:ext cx="45528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Goal of the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194152-D1FA-79D6-9B66-093028051980}"/>
              </a:ext>
            </a:extLst>
          </p:cNvPr>
          <p:cNvSpPr txBox="1"/>
          <p:nvPr/>
        </p:nvSpPr>
        <p:spPr>
          <a:xfrm>
            <a:off x="719348" y="1887205"/>
            <a:ext cx="79495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Build an agent that:</a:t>
            </a:r>
          </a:p>
          <a:p>
            <a:endParaRPr lang="en-GB" sz="3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dirty="0"/>
              <a:t>Understands natural‑language instructions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dirty="0"/>
              <a:t>Discovers files automatically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dirty="0"/>
              <a:t>Selects the correct tool per file 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dirty="0"/>
              <a:t>Extracts structured information using a template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dirty="0"/>
              <a:t>Generates meaningful filenames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dirty="0"/>
              <a:t>Outputs clean, consistent markdown files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4055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9D03-6577-BCAB-D858-3FB6EFE0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F8A9A2-631B-ADB0-1B26-660E086039F6}"/>
              </a:ext>
            </a:extLst>
          </p:cNvPr>
          <p:cNvSpPr txBox="1"/>
          <p:nvPr/>
        </p:nvSpPr>
        <p:spPr>
          <a:xfrm>
            <a:off x="675884" y="680774"/>
            <a:ext cx="53689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High‑Level Architecture</a:t>
            </a:r>
          </a:p>
        </p:txBody>
      </p:sp>
      <p:pic>
        <p:nvPicPr>
          <p:cNvPr id="4" name="Graphic 3" descr="User with solid fill">
            <a:extLst>
              <a:ext uri="{FF2B5EF4-FFF2-40B4-BE49-F238E27FC236}">
                <a16:creationId xmlns:a16="http://schemas.microsoft.com/office/drawing/2014/main" id="{05C67083-3AC5-184C-5D30-8FC70B3F9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0266" y="2452511"/>
            <a:ext cx="914400" cy="914400"/>
          </a:xfrm>
          <a:prstGeom prst="rect">
            <a:avLst/>
          </a:prstGeom>
        </p:spPr>
      </p:pic>
      <p:pic>
        <p:nvPicPr>
          <p:cNvPr id="6" name="Graphic 5" descr="Brain with solid fill">
            <a:extLst>
              <a:ext uri="{FF2B5EF4-FFF2-40B4-BE49-F238E27FC236}">
                <a16:creationId xmlns:a16="http://schemas.microsoft.com/office/drawing/2014/main" id="{A969783E-9127-EF7B-6807-756A615479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27069" y="2328335"/>
            <a:ext cx="914400" cy="914400"/>
          </a:xfrm>
          <a:prstGeom prst="rect">
            <a:avLst/>
          </a:prstGeom>
        </p:spPr>
      </p:pic>
      <p:pic>
        <p:nvPicPr>
          <p:cNvPr id="10" name="Graphic 9" descr="Open folder with solid fill">
            <a:extLst>
              <a:ext uri="{FF2B5EF4-FFF2-40B4-BE49-F238E27FC236}">
                <a16:creationId xmlns:a16="http://schemas.microsoft.com/office/drawing/2014/main" id="{3AD1FEB5-2E42-EF1D-7B6D-E1C7A1FB2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37199" y="2508957"/>
            <a:ext cx="914400" cy="914400"/>
          </a:xfrm>
          <a:prstGeom prst="rect">
            <a:avLst/>
          </a:prstGeom>
        </p:spPr>
      </p:pic>
      <p:pic>
        <p:nvPicPr>
          <p:cNvPr id="11" name="Graphic 10" descr="Brain with solid fill">
            <a:extLst>
              <a:ext uri="{FF2B5EF4-FFF2-40B4-BE49-F238E27FC236}">
                <a16:creationId xmlns:a16="http://schemas.microsoft.com/office/drawing/2014/main" id="{CF928582-8DEE-DEF8-E850-005615659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2444" y="2480735"/>
            <a:ext cx="914400" cy="914400"/>
          </a:xfrm>
          <a:prstGeom prst="rect">
            <a:avLst/>
          </a:prstGeom>
        </p:spPr>
      </p:pic>
      <p:pic>
        <p:nvPicPr>
          <p:cNvPr id="13" name="Graphic 12" descr="Radio microphone with solid fill">
            <a:extLst>
              <a:ext uri="{FF2B5EF4-FFF2-40B4-BE49-F238E27FC236}">
                <a16:creationId xmlns:a16="http://schemas.microsoft.com/office/drawing/2014/main" id="{5E09B493-2F63-E3D7-EF1C-9A7212356E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5376" y="1436513"/>
            <a:ext cx="914400" cy="914400"/>
          </a:xfrm>
          <a:prstGeom prst="rect">
            <a:avLst/>
          </a:prstGeom>
        </p:spPr>
      </p:pic>
      <p:pic>
        <p:nvPicPr>
          <p:cNvPr id="15" name="Graphic 14" descr="Document with solid fill">
            <a:extLst>
              <a:ext uri="{FF2B5EF4-FFF2-40B4-BE49-F238E27FC236}">
                <a16:creationId xmlns:a16="http://schemas.microsoft.com/office/drawing/2014/main" id="{A31BFC38-62A3-1F52-ED97-7DF9C2F520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30533" y="2565400"/>
            <a:ext cx="914400" cy="914400"/>
          </a:xfrm>
          <a:prstGeom prst="rect">
            <a:avLst/>
          </a:prstGeom>
        </p:spPr>
      </p:pic>
      <p:pic>
        <p:nvPicPr>
          <p:cNvPr id="17" name="Graphic 16" descr="Image with solid fill">
            <a:extLst>
              <a:ext uri="{FF2B5EF4-FFF2-40B4-BE49-F238E27FC236}">
                <a16:creationId xmlns:a16="http://schemas.microsoft.com/office/drawing/2014/main" id="{AA464A73-05B4-F240-6E98-09FB62B685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09556" y="3671711"/>
            <a:ext cx="914400" cy="914400"/>
          </a:xfrm>
          <a:prstGeom prst="rect">
            <a:avLst/>
          </a:prstGeom>
        </p:spPr>
      </p:pic>
      <p:pic>
        <p:nvPicPr>
          <p:cNvPr id="19" name="Graphic 18" descr="Wrench with solid fill">
            <a:extLst>
              <a:ext uri="{FF2B5EF4-FFF2-40B4-BE49-F238E27FC236}">
                <a16:creationId xmlns:a16="http://schemas.microsoft.com/office/drawing/2014/main" id="{25B9C524-DE75-8F77-24F9-025A218452D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09288" y="2779889"/>
            <a:ext cx="914400" cy="914400"/>
          </a:xfrm>
          <a:prstGeom prst="rect">
            <a:avLst/>
          </a:prstGeom>
        </p:spPr>
      </p:pic>
      <p:pic>
        <p:nvPicPr>
          <p:cNvPr id="23" name="Graphic 22" descr="Mop and bucket with solid fill">
            <a:extLst>
              <a:ext uri="{FF2B5EF4-FFF2-40B4-BE49-F238E27FC236}">
                <a16:creationId xmlns:a16="http://schemas.microsoft.com/office/drawing/2014/main" id="{A542E7B1-46EC-A33C-BC28-B5DF570861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67601" y="5184422"/>
            <a:ext cx="914400" cy="914400"/>
          </a:xfrm>
          <a:prstGeom prst="rect">
            <a:avLst/>
          </a:prstGeom>
        </p:spPr>
      </p:pic>
      <p:pic>
        <p:nvPicPr>
          <p:cNvPr id="25" name="Graphic 24" descr="Paper with solid fill">
            <a:extLst>
              <a:ext uri="{FF2B5EF4-FFF2-40B4-BE49-F238E27FC236}">
                <a16:creationId xmlns:a16="http://schemas.microsoft.com/office/drawing/2014/main" id="{E84BF75A-2B09-253F-272E-9AB49A1DCA9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318978" y="5365044"/>
            <a:ext cx="914400" cy="914400"/>
          </a:xfrm>
          <a:prstGeom prst="rect">
            <a:avLst/>
          </a:prstGeom>
        </p:spPr>
      </p:pic>
      <p:pic>
        <p:nvPicPr>
          <p:cNvPr id="27" name="Graphic 26" descr="Paper outline">
            <a:extLst>
              <a:ext uri="{FF2B5EF4-FFF2-40B4-BE49-F238E27FC236}">
                <a16:creationId xmlns:a16="http://schemas.microsoft.com/office/drawing/2014/main" id="{31846036-C521-B401-B3AA-C2894F35D3C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492045" y="5286024"/>
            <a:ext cx="914400" cy="914400"/>
          </a:xfrm>
          <a:prstGeom prst="rect">
            <a:avLst/>
          </a:prstGeom>
        </p:spPr>
      </p:pic>
      <p:pic>
        <p:nvPicPr>
          <p:cNvPr id="28" name="Graphic 27" descr="Brain with solid fill">
            <a:extLst>
              <a:ext uri="{FF2B5EF4-FFF2-40B4-BE49-F238E27FC236}">
                <a16:creationId xmlns:a16="http://schemas.microsoft.com/office/drawing/2014/main" id="{3BFE3034-2D8A-FAD1-C371-8B501F51C5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5512" y="5252156"/>
            <a:ext cx="914400" cy="914400"/>
          </a:xfrm>
          <a:prstGeom prst="rect">
            <a:avLst/>
          </a:prstGeom>
        </p:spPr>
      </p:pic>
      <p:pic>
        <p:nvPicPr>
          <p:cNvPr id="30" name="Graphic 29" descr="Clipboard Partially Checked with solid fill">
            <a:extLst>
              <a:ext uri="{FF2B5EF4-FFF2-40B4-BE49-F238E27FC236}">
                <a16:creationId xmlns:a16="http://schemas.microsoft.com/office/drawing/2014/main" id="{59DC45DB-56F1-2305-F8AD-9D95DC5239A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783645" y="5229578"/>
            <a:ext cx="914400" cy="914400"/>
          </a:xfrm>
          <a:prstGeom prst="rect">
            <a:avLst/>
          </a:prstGeom>
        </p:spPr>
      </p:pic>
      <p:pic>
        <p:nvPicPr>
          <p:cNvPr id="34" name="Graphic 33" descr="Arrow: Straight outline">
            <a:extLst>
              <a:ext uri="{FF2B5EF4-FFF2-40B4-BE49-F238E27FC236}">
                <a16:creationId xmlns:a16="http://schemas.microsoft.com/office/drawing/2014/main" id="{692DCA47-1702-999D-D954-82C6CC7F61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2647245" y="2497667"/>
            <a:ext cx="914400" cy="914400"/>
          </a:xfrm>
          <a:prstGeom prst="rect">
            <a:avLst/>
          </a:prstGeom>
        </p:spPr>
      </p:pic>
      <p:pic>
        <p:nvPicPr>
          <p:cNvPr id="35" name="Graphic 34" descr="Arrow: Straight outline">
            <a:extLst>
              <a:ext uri="{FF2B5EF4-FFF2-40B4-BE49-F238E27FC236}">
                <a16:creationId xmlns:a16="http://schemas.microsoft.com/office/drawing/2014/main" id="{CD70E843-87EA-4F72-6ECA-0C2EF080DCB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4538133" y="2492021"/>
            <a:ext cx="914400" cy="914400"/>
          </a:xfrm>
          <a:prstGeom prst="rect">
            <a:avLst/>
          </a:prstGeom>
        </p:spPr>
      </p:pic>
      <p:pic>
        <p:nvPicPr>
          <p:cNvPr id="36" name="Graphic 35" descr="Arrow: Straight outline">
            <a:extLst>
              <a:ext uri="{FF2B5EF4-FFF2-40B4-BE49-F238E27FC236}">
                <a16:creationId xmlns:a16="http://schemas.microsoft.com/office/drawing/2014/main" id="{37418516-49EF-6124-0CBF-F74ECC2C561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6417733" y="2520243"/>
            <a:ext cx="914400" cy="914400"/>
          </a:xfrm>
          <a:prstGeom prst="rect">
            <a:avLst/>
          </a:prstGeom>
        </p:spPr>
      </p:pic>
      <p:pic>
        <p:nvPicPr>
          <p:cNvPr id="37" name="Graphic 36" descr="Arrow: Straight outline">
            <a:extLst>
              <a:ext uri="{FF2B5EF4-FFF2-40B4-BE49-F238E27FC236}">
                <a16:creationId xmlns:a16="http://schemas.microsoft.com/office/drawing/2014/main" id="{26AA7D64-B749-189B-C9B9-70396683AAB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3042858">
            <a:off x="6400799" y="3349977"/>
            <a:ext cx="914400" cy="914400"/>
          </a:xfrm>
          <a:prstGeom prst="rect">
            <a:avLst/>
          </a:prstGeom>
        </p:spPr>
      </p:pic>
      <p:pic>
        <p:nvPicPr>
          <p:cNvPr id="39" name="Graphic 38" descr="Arrow: Straight outline">
            <a:extLst>
              <a:ext uri="{FF2B5EF4-FFF2-40B4-BE49-F238E27FC236}">
                <a16:creationId xmlns:a16="http://schemas.microsoft.com/office/drawing/2014/main" id="{B71E4E49-4D62-C79D-BFE2-ADE2C278A23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8060266" y="2537176"/>
            <a:ext cx="914400" cy="914400"/>
          </a:xfrm>
          <a:prstGeom prst="rect">
            <a:avLst/>
          </a:prstGeom>
        </p:spPr>
      </p:pic>
      <p:pic>
        <p:nvPicPr>
          <p:cNvPr id="40" name="Graphic 39" descr="Arrow: Straight outline">
            <a:extLst>
              <a:ext uri="{FF2B5EF4-FFF2-40B4-BE49-F238E27FC236}">
                <a16:creationId xmlns:a16="http://schemas.microsoft.com/office/drawing/2014/main" id="{4978CE88-2EFD-3E09-5764-C950621660B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6200000">
            <a:off x="9285111" y="3999088"/>
            <a:ext cx="914400" cy="914400"/>
          </a:xfrm>
          <a:prstGeom prst="rect">
            <a:avLst/>
          </a:prstGeom>
        </p:spPr>
      </p:pic>
      <p:pic>
        <p:nvPicPr>
          <p:cNvPr id="41" name="Graphic 40" descr="Arrow: Straight outline">
            <a:extLst>
              <a:ext uri="{FF2B5EF4-FFF2-40B4-BE49-F238E27FC236}">
                <a16:creationId xmlns:a16="http://schemas.microsoft.com/office/drawing/2014/main" id="{AE5D0017-F798-97E9-5902-60EFA03E491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93288" y="5342465"/>
            <a:ext cx="914400" cy="914400"/>
          </a:xfrm>
          <a:prstGeom prst="rect">
            <a:avLst/>
          </a:prstGeom>
        </p:spPr>
      </p:pic>
      <p:pic>
        <p:nvPicPr>
          <p:cNvPr id="42" name="Graphic 41" descr="Arrow: Straight outline">
            <a:extLst>
              <a:ext uri="{FF2B5EF4-FFF2-40B4-BE49-F238E27FC236}">
                <a16:creationId xmlns:a16="http://schemas.microsoft.com/office/drawing/2014/main" id="{8BA616AB-83C1-4816-E065-66B110293EF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524977" y="5348110"/>
            <a:ext cx="914400" cy="914400"/>
          </a:xfrm>
          <a:prstGeom prst="rect">
            <a:avLst/>
          </a:prstGeom>
        </p:spPr>
      </p:pic>
      <p:pic>
        <p:nvPicPr>
          <p:cNvPr id="43" name="Graphic 42" descr="Arrow: Straight outline">
            <a:extLst>
              <a:ext uri="{FF2B5EF4-FFF2-40B4-BE49-F238E27FC236}">
                <a16:creationId xmlns:a16="http://schemas.microsoft.com/office/drawing/2014/main" id="{BB3F504C-C8DF-2638-B98B-D500D783E80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600221" y="5286021"/>
            <a:ext cx="914400" cy="914400"/>
          </a:xfrm>
          <a:prstGeom prst="rect">
            <a:avLst/>
          </a:prstGeom>
        </p:spPr>
      </p:pic>
      <p:pic>
        <p:nvPicPr>
          <p:cNvPr id="44" name="Graphic 43" descr="Arrow: Straight outline">
            <a:extLst>
              <a:ext uri="{FF2B5EF4-FFF2-40B4-BE49-F238E27FC236}">
                <a16:creationId xmlns:a16="http://schemas.microsoft.com/office/drawing/2014/main" id="{163E4163-9995-CF6E-67FF-4EBBEC7E1F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675466" y="5246510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E62CED3D-E5EE-5234-241D-45B8274E93BE}"/>
              </a:ext>
            </a:extLst>
          </p:cNvPr>
          <p:cNvSpPr txBox="1"/>
          <p:nvPr/>
        </p:nvSpPr>
        <p:spPr>
          <a:xfrm>
            <a:off x="1828800" y="3312625"/>
            <a:ext cx="676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U</a:t>
            </a:r>
            <a:r>
              <a:rPr lang="en-US" altLang="zh-CN" b="1" dirty="0"/>
              <a:t>ser</a:t>
            </a:r>
            <a:endParaRPr lang="en-GB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7F4494-04F8-E206-65B7-5EA845FC6478}"/>
              </a:ext>
            </a:extLst>
          </p:cNvPr>
          <p:cNvSpPr txBox="1"/>
          <p:nvPr/>
        </p:nvSpPr>
        <p:spPr>
          <a:xfrm>
            <a:off x="2483224" y="2272719"/>
            <a:ext cx="1337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Instruction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79AE47-5078-FB33-D8EE-A40B1D75542D}"/>
              </a:ext>
            </a:extLst>
          </p:cNvPr>
          <p:cNvSpPr txBox="1"/>
          <p:nvPr/>
        </p:nvSpPr>
        <p:spPr>
          <a:xfrm>
            <a:off x="3774141" y="3351910"/>
            <a:ext cx="134470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LLM classify task</a:t>
            </a:r>
            <a:endParaRPr lang="en-GB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FF792E8-6651-88DD-CEDD-8E2585268F65}"/>
              </a:ext>
            </a:extLst>
          </p:cNvPr>
          <p:cNvSpPr txBox="1"/>
          <p:nvPr/>
        </p:nvSpPr>
        <p:spPr>
          <a:xfrm>
            <a:off x="5342965" y="3316051"/>
            <a:ext cx="1497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Documents</a:t>
            </a:r>
            <a:endParaRPr lang="en-GB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381AE0-AB47-4AEB-35B4-0576A7710D8E}"/>
              </a:ext>
            </a:extLst>
          </p:cNvPr>
          <p:cNvSpPr txBox="1"/>
          <p:nvPr/>
        </p:nvSpPr>
        <p:spPr>
          <a:xfrm>
            <a:off x="8875058" y="1998240"/>
            <a:ext cx="177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LLM select tool</a:t>
            </a:r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FD5151-4EE5-C678-94A9-71F4750DFC81}"/>
              </a:ext>
            </a:extLst>
          </p:cNvPr>
          <p:cNvSpPr txBox="1"/>
          <p:nvPr/>
        </p:nvSpPr>
        <p:spPr>
          <a:xfrm>
            <a:off x="10130116" y="5664805"/>
            <a:ext cx="18288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Document to text</a:t>
            </a:r>
            <a:endParaRPr lang="en-GB" sz="16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6A6879-002E-7AF2-E5F0-74647CC631A8}"/>
              </a:ext>
            </a:extLst>
          </p:cNvPr>
          <p:cNvSpPr txBox="1"/>
          <p:nvPr/>
        </p:nvSpPr>
        <p:spPr>
          <a:xfrm>
            <a:off x="7485529" y="6122005"/>
            <a:ext cx="177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Cleaning</a:t>
            </a:r>
            <a:endParaRPr lang="en-GB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774205-7210-58EE-5CA0-4C06AC23166B}"/>
              </a:ext>
            </a:extLst>
          </p:cNvPr>
          <p:cNvSpPr txBox="1"/>
          <p:nvPr/>
        </p:nvSpPr>
        <p:spPr>
          <a:xfrm>
            <a:off x="5325034" y="6202687"/>
            <a:ext cx="177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Cleaned text</a:t>
            </a:r>
            <a:endParaRPr lang="en-GB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1FC9BE-3F00-14E4-6895-379566C65576}"/>
              </a:ext>
            </a:extLst>
          </p:cNvPr>
          <p:cNvSpPr txBox="1"/>
          <p:nvPr/>
        </p:nvSpPr>
        <p:spPr>
          <a:xfrm>
            <a:off x="3442445" y="6148898"/>
            <a:ext cx="1775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LLM extract required info</a:t>
            </a:r>
            <a:endParaRPr lang="en-GB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175BD5-3B9D-1CA4-7FD6-426ECF26F947}"/>
              </a:ext>
            </a:extLst>
          </p:cNvPr>
          <p:cNvSpPr txBox="1"/>
          <p:nvPr/>
        </p:nvSpPr>
        <p:spPr>
          <a:xfrm>
            <a:off x="1810869" y="6122004"/>
            <a:ext cx="1775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Output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5FE65F-41C5-ECB2-8B07-C4E3E3B7955A}"/>
              </a:ext>
            </a:extLst>
          </p:cNvPr>
          <p:cNvSpPr txBox="1"/>
          <p:nvPr/>
        </p:nvSpPr>
        <p:spPr>
          <a:xfrm>
            <a:off x="7112374" y="4587294"/>
            <a:ext cx="1621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Deterministic</a:t>
            </a:r>
          </a:p>
        </p:txBody>
      </p:sp>
      <p:pic>
        <p:nvPicPr>
          <p:cNvPr id="3" name="Graphic 2" descr="Arrow: Straight outline">
            <a:extLst>
              <a:ext uri="{FF2B5EF4-FFF2-40B4-BE49-F238E27FC236}">
                <a16:creationId xmlns:a16="http://schemas.microsoft.com/office/drawing/2014/main" id="{916B525A-99A9-C9C6-716C-967C5BA1836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8999088">
            <a:off x="6479820" y="1803399"/>
            <a:ext cx="914400" cy="914400"/>
          </a:xfrm>
          <a:prstGeom prst="rect">
            <a:avLst/>
          </a:prstGeom>
        </p:spPr>
      </p:pic>
      <p:pic>
        <p:nvPicPr>
          <p:cNvPr id="5" name="Graphic 4" descr="Arrow: Straight outline">
            <a:extLst>
              <a:ext uri="{FF2B5EF4-FFF2-40B4-BE49-F238E27FC236}">
                <a16:creationId xmlns:a16="http://schemas.microsoft.com/office/drawing/2014/main" id="{4CA8E37C-E27F-CF89-2AC1-303802542B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3042858">
            <a:off x="8058150" y="1702152"/>
            <a:ext cx="914400" cy="914400"/>
          </a:xfrm>
          <a:prstGeom prst="rect">
            <a:avLst/>
          </a:prstGeom>
        </p:spPr>
      </p:pic>
      <p:pic>
        <p:nvPicPr>
          <p:cNvPr id="7" name="Graphic 6" descr="Arrow: Straight outline">
            <a:extLst>
              <a:ext uri="{FF2B5EF4-FFF2-40B4-BE49-F238E27FC236}">
                <a16:creationId xmlns:a16="http://schemas.microsoft.com/office/drawing/2014/main" id="{8B6B4C73-7454-A8A6-451B-A3E900A8A4B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8999088">
            <a:off x="8232420" y="35559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211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CBF6-20EE-5B35-F2A4-B7FDA30D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8CBBD5D-25E0-2B57-B9BE-52850D34CD75}"/>
              </a:ext>
            </a:extLst>
          </p:cNvPr>
          <p:cNvSpPr txBox="1"/>
          <p:nvPr/>
        </p:nvSpPr>
        <p:spPr>
          <a:xfrm>
            <a:off x="191790" y="384939"/>
            <a:ext cx="56675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Component Breakdown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70C1C-D4EE-4E65-BD1F-660036DB91F0}"/>
              </a:ext>
            </a:extLst>
          </p:cNvPr>
          <p:cNvSpPr txBox="1"/>
          <p:nvPr/>
        </p:nvSpPr>
        <p:spPr>
          <a:xfrm>
            <a:off x="226289" y="1214852"/>
            <a:ext cx="11553334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Task Classifier</a:t>
            </a:r>
          </a:p>
          <a:p>
            <a:r>
              <a:rPr lang="en-GB" dirty="0"/>
              <a:t>Determines whether the user’s instruction should trigger document processing and identifies the task intent.</a:t>
            </a:r>
          </a:p>
          <a:p>
            <a:endParaRPr lang="en-GB" dirty="0"/>
          </a:p>
          <a:p>
            <a:r>
              <a:rPr lang="en-GB" b="1" dirty="0"/>
              <a:t>Tool Selector</a:t>
            </a:r>
          </a:p>
          <a:p>
            <a:r>
              <a:rPr lang="en-GB" dirty="0"/>
              <a:t>Chooses the correct processing method for each file type (PDF reader, OCR for images, or audio transcription).</a:t>
            </a:r>
          </a:p>
          <a:p>
            <a:endParaRPr lang="en-GB" dirty="0"/>
          </a:p>
          <a:p>
            <a:r>
              <a:rPr lang="en-GB" b="1" dirty="0"/>
              <a:t>Text Cleaner</a:t>
            </a:r>
          </a:p>
          <a:p>
            <a:r>
              <a:rPr lang="en-GB" dirty="0"/>
              <a:t>Normalises raw extracted text by fixing OCR/transcription errors and restoring readable structure.</a:t>
            </a:r>
          </a:p>
          <a:p>
            <a:endParaRPr lang="en-GB" dirty="0"/>
          </a:p>
          <a:p>
            <a:r>
              <a:rPr lang="en-GB" b="1" dirty="0"/>
              <a:t>Extractor</a:t>
            </a:r>
          </a:p>
          <a:p>
            <a:r>
              <a:rPr lang="en-GB" dirty="0"/>
              <a:t>Uses the LLM to pull structured fields from the cleaned text and generate a meaningful, content‑based filename.</a:t>
            </a:r>
          </a:p>
          <a:p>
            <a:endParaRPr lang="en-GB" dirty="0"/>
          </a:p>
          <a:p>
            <a:r>
              <a:rPr lang="en-GB" b="1" dirty="0"/>
              <a:t>Document Processor</a:t>
            </a:r>
          </a:p>
          <a:p>
            <a:r>
              <a:rPr lang="en-GB" dirty="0"/>
              <a:t>Coordinates file reading, cleaning, extraction, and template filling for each individual document.</a:t>
            </a:r>
          </a:p>
          <a:p>
            <a:endParaRPr lang="en-GB" dirty="0"/>
          </a:p>
          <a:p>
            <a:r>
              <a:rPr lang="en-GB" b="1" dirty="0"/>
              <a:t>Agent Runner</a:t>
            </a:r>
          </a:p>
          <a:p>
            <a:r>
              <a:rPr lang="en-GB" dirty="0"/>
              <a:t>Manages the overall workflow, including file discovery, task orchestration, and concurrent processing across multiple files.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0206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58EC-1A44-9FCA-1D2F-2C4D35319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7F70A93-6D41-FE26-BA5D-A15860A583F0}"/>
              </a:ext>
            </a:extLst>
          </p:cNvPr>
          <p:cNvSpPr txBox="1"/>
          <p:nvPr/>
        </p:nvSpPr>
        <p:spPr>
          <a:xfrm>
            <a:off x="263507" y="420797"/>
            <a:ext cx="50048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LLM Responsibilities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577A8-3553-8E1A-95ED-753340557CC8}"/>
              </a:ext>
            </a:extLst>
          </p:cNvPr>
          <p:cNvSpPr txBox="1"/>
          <p:nvPr/>
        </p:nvSpPr>
        <p:spPr>
          <a:xfrm>
            <a:off x="226289" y="1214852"/>
            <a:ext cx="1155333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LLM autonomously decides:</a:t>
            </a:r>
          </a:p>
          <a:p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Should the instruction trigger processing?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Which tool to use per file?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How to extract fields?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What filename to generate?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17439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53FE-ACD4-9482-A047-AEBD68FA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C9D0EE9-4E61-D4D2-00E6-1C9858285013}"/>
              </a:ext>
            </a:extLst>
          </p:cNvPr>
          <p:cNvSpPr txBox="1"/>
          <p:nvPr/>
        </p:nvSpPr>
        <p:spPr>
          <a:xfrm>
            <a:off x="263507" y="420797"/>
            <a:ext cx="42226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Design Decisions</a:t>
            </a:r>
            <a:endParaRPr lang="en-GB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62849C-B878-FD9A-1C0D-FE64CEBC8A32}"/>
              </a:ext>
            </a:extLst>
          </p:cNvPr>
          <p:cNvSpPr txBox="1"/>
          <p:nvPr/>
        </p:nvSpPr>
        <p:spPr>
          <a:xfrm>
            <a:off x="298007" y="1358287"/>
            <a:ext cx="1155333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Modular architecture</a:t>
            </a:r>
            <a:r>
              <a:rPr lang="en-GB" sz="2800" dirty="0"/>
              <a:t> for clarity and scalability</a:t>
            </a:r>
          </a:p>
          <a:p>
            <a:pPr lvl="0"/>
            <a:endParaRPr lang="en-GB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Class‑based pipeline</a:t>
            </a:r>
            <a:r>
              <a:rPr lang="en-GB" sz="2800" dirty="0"/>
              <a:t> to encapsulate state and behaviour</a:t>
            </a:r>
          </a:p>
          <a:p>
            <a:pPr lvl="0"/>
            <a:endParaRPr lang="en-GB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LLM‑driven control flow</a:t>
            </a:r>
            <a:r>
              <a:rPr lang="en-GB" sz="2800" dirty="0"/>
              <a:t> for flexible, template‑agnostic extraction</a:t>
            </a:r>
          </a:p>
          <a:p>
            <a:pPr lvl="0"/>
            <a:endParaRPr lang="en-GB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Robust JSON parsing layer</a:t>
            </a:r>
            <a:r>
              <a:rPr lang="en-GB" sz="2800" dirty="0"/>
              <a:t> to handle imperfect LLM output</a:t>
            </a:r>
          </a:p>
          <a:p>
            <a:pPr lvl="0"/>
            <a:endParaRPr lang="en-GB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Dedicated readers</a:t>
            </a:r>
            <a:r>
              <a:rPr lang="en-GB" sz="2800" dirty="0"/>
              <a:t> for PDF, audio, and images</a:t>
            </a:r>
          </a:p>
          <a:p>
            <a:pPr lvl="0"/>
            <a:endParaRPr lang="en-GB" sz="2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2800" b="1" dirty="0" err="1"/>
              <a:t>ThreadPool</a:t>
            </a:r>
            <a:r>
              <a:rPr lang="en-GB" sz="2800" b="1" dirty="0"/>
              <a:t> concurrency</a:t>
            </a:r>
            <a:r>
              <a:rPr lang="en-GB" sz="2800" dirty="0"/>
              <a:t> for multi‑file 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63864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A0A0D-65C4-FF27-A17C-C9FDB5C2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59D3BA8-9F10-1C48-A779-B9E1F44CC256}"/>
              </a:ext>
            </a:extLst>
          </p:cNvPr>
          <p:cNvSpPr txBox="1"/>
          <p:nvPr/>
        </p:nvSpPr>
        <p:spPr>
          <a:xfrm>
            <a:off x="263507" y="420797"/>
            <a:ext cx="57289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Challenges &amp; Trade‑offs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7F055-4D83-9A1F-5090-16F92E528405}"/>
              </a:ext>
            </a:extLst>
          </p:cNvPr>
          <p:cNvSpPr txBox="1"/>
          <p:nvPr/>
        </p:nvSpPr>
        <p:spPr>
          <a:xfrm>
            <a:off x="235254" y="1152099"/>
            <a:ext cx="1155333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LLM output variability → required resilient JSON extraction</a:t>
            </a:r>
          </a:p>
          <a:p>
            <a:pPr lvl="0"/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Autonomy vs. determinism → LLM makes decisions, but can be unpredictable (</a:t>
            </a:r>
            <a:r>
              <a:rPr lang="en-GB" sz="2800" b="1" dirty="0"/>
              <a:t>hallucination</a:t>
            </a:r>
            <a:r>
              <a:rPr lang="en-GB" sz="2800" dirty="0"/>
              <a:t>, </a:t>
            </a:r>
            <a:r>
              <a:rPr lang="en-GB" sz="2800" b="1" dirty="0"/>
              <a:t>agent loop</a:t>
            </a:r>
            <a:r>
              <a:rPr lang="en-GB" sz="2800" dirty="0"/>
              <a:t>)</a:t>
            </a:r>
          </a:p>
          <a:p>
            <a:pPr lvl="0"/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Local models → free, stable and private, but require more prompt engineering</a:t>
            </a:r>
          </a:p>
          <a:p>
            <a:pPr lvl="0"/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Model size → big model have higher accuracy, but take longer time </a:t>
            </a:r>
          </a:p>
          <a:p>
            <a:pPr lvl="0"/>
            <a:endParaRPr lang="en-GB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/>
              <a:t>Concurrency limits → Whisper/OCR are CPU‑heavy</a:t>
            </a: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085938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A7FC-7D06-3C9D-A4B7-6990C34D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9BF86C9-4E22-2A47-796B-4CC0F9E4274B}"/>
              </a:ext>
            </a:extLst>
          </p:cNvPr>
          <p:cNvSpPr txBox="1"/>
          <p:nvPr/>
        </p:nvSpPr>
        <p:spPr>
          <a:xfrm>
            <a:off x="263507" y="420797"/>
            <a:ext cx="3900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Scaling &amp; Limits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F09AD-16E1-2AF7-0FED-8A72EF826373}"/>
              </a:ext>
            </a:extLst>
          </p:cNvPr>
          <p:cNvSpPr txBox="1"/>
          <p:nvPr/>
        </p:nvSpPr>
        <p:spPr>
          <a:xfrm>
            <a:off x="235254" y="1152099"/>
            <a:ext cx="1155333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Scaling to 100–1000 files:</a:t>
            </a: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Concurrency helps, but CPU‑bound tasks become bottlenecks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LLM calls scale linearly with file count</a:t>
            </a:r>
          </a:p>
          <a:p>
            <a:pPr lvl="0"/>
            <a:endParaRPr lang="en-GB" sz="2000" dirty="0"/>
          </a:p>
          <a:p>
            <a:r>
              <a:rPr lang="en-GB" sz="2400" b="1" dirty="0"/>
              <a:t>System limits:</a:t>
            </a: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Model context window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I/O throughput for large files (depends on local disk)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Whisper/OCR latency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Local models return messy or inconsistent output</a:t>
            </a:r>
          </a:p>
          <a:p>
            <a:pPr lvl="0"/>
            <a:endParaRPr lang="en-GB" sz="2000" dirty="0"/>
          </a:p>
          <a:p>
            <a:r>
              <a:rPr lang="en-GB" sz="2400" b="1" dirty="0"/>
              <a:t>Future improvements:</a:t>
            </a: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Chunking for long documents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Caching repeated work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GPU acceleration for OCR/Whisper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/>
              <a:t>Make system more reliable -&gt; retry logic with terminator</a:t>
            </a:r>
          </a:p>
        </p:txBody>
      </p:sp>
    </p:spTree>
    <p:extLst>
      <p:ext uri="{BB962C8B-B14F-4D97-AF65-F5344CB8AC3E}">
        <p14:creationId xmlns:p14="http://schemas.microsoft.com/office/powerpoint/2010/main" val="2534369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709E-15BE-AEA5-190D-E4A289E38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DE1428F-54B0-913E-16DA-7078A9FC8643}"/>
              </a:ext>
            </a:extLst>
          </p:cNvPr>
          <p:cNvSpPr txBox="1"/>
          <p:nvPr/>
        </p:nvSpPr>
        <p:spPr>
          <a:xfrm>
            <a:off x="263507" y="420797"/>
            <a:ext cx="24366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/>
              <a:t>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C78DA9-99F3-47F7-A66F-34FADA553456}"/>
              </a:ext>
            </a:extLst>
          </p:cNvPr>
          <p:cNvSpPr txBox="1"/>
          <p:nvPr/>
        </p:nvSpPr>
        <p:spPr>
          <a:xfrm>
            <a:off x="235254" y="1152099"/>
            <a:ext cx="1155333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The agent:</a:t>
            </a:r>
          </a:p>
          <a:p>
            <a:endParaRPr lang="en-GB" sz="32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Processes mixed‑format documents</a:t>
            </a:r>
          </a:p>
          <a:p>
            <a:pPr lvl="0"/>
            <a:endParaRPr lang="en-GB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Uses natural language as the interface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Let the LLM orchestrate the workflow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Produces structured, consistent outputs</a:t>
            </a:r>
          </a:p>
          <a:p>
            <a:pPr lvl="0"/>
            <a:endParaRPr lang="en-GB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800" dirty="0"/>
              <a:t>Is modular and scalable</a:t>
            </a:r>
          </a:p>
          <a:p>
            <a:pPr lvl="0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3211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497</Words>
  <Application>Microsoft Office PowerPoint</Application>
  <PresentationFormat>Widescreen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AI Document Processing Agent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Yishuang Yang</dc:creator>
  <cp:lastModifiedBy>Yishuang Yang</cp:lastModifiedBy>
  <cp:revision>2</cp:revision>
  <dcterms:created xsi:type="dcterms:W3CDTF">2026-02-01T22:13:24Z</dcterms:created>
  <dcterms:modified xsi:type="dcterms:W3CDTF">2026-02-02T09:13:47Z</dcterms:modified>
</cp:coreProperties>
</file>